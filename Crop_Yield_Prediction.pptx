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96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-1280160"/>
            <a:ext cx="6217920" cy="6217920"/>
          </a:xfrm>
          <a:prstGeom prst="ellipse">
            <a:avLst/>
          </a:prstGeom>
          <a:solidFill>
            <a:srgbClr val="2C5F2D">
              <a:alpha val="28000"/>
            </a:srgbClr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640080"/>
            <a:ext cx="4206240" cy="4206240"/>
          </a:xfrm>
          <a:prstGeom prst="ellipse">
            <a:avLst/>
          </a:prstGeom>
          <a:solidFill>
            <a:srgbClr val="4A8B3A">
              <a:alpha val="25000"/>
            </a:srgbClr>
          </a:solidFill>
          <a:ln w="12700">
            <a:solidFill>
              <a:srgbClr val="4A8B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10896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5029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🌾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75488" y="1170432"/>
            <a:ext cx="8046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75488" y="2231136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Learning: Linear Regression vs Random Forest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5488" y="2852928"/>
            <a:ext cx="4206240" cy="457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98094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28,242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5488" y="3401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32304" y="298094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32304" y="3401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298094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89120" y="3401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45936" y="298094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1990–2013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45936" y="3401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" y="3785616"/>
            <a:ext cx="1426464" cy="2926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785616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4160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yield_df.csv — Kaggle Crop Yield Prediction Dataset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" y="44256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Members: Thanh Tung Nguyen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060704"/>
            <a:ext cx="4114800" cy="60350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60704"/>
            <a:ext cx="512064" cy="60350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60704"/>
            <a:ext cx="512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0976" y="1179576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Problem Statement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773936"/>
            <a:ext cx="4114800" cy="60350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773936"/>
            <a:ext cx="512064" cy="60350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773936"/>
            <a:ext cx="512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50976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yield_df.csv (5 files)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" y="2487168"/>
            <a:ext cx="4114800" cy="60350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2487168"/>
            <a:ext cx="512064" cy="60350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487168"/>
            <a:ext cx="512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0976" y="2606040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Methodology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" y="3200400"/>
            <a:ext cx="4114800" cy="60350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3200400"/>
            <a:ext cx="512064" cy="60350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200400"/>
            <a:ext cx="512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0976" y="3319272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EDA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" y="3913632"/>
            <a:ext cx="4114800" cy="60350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3913632"/>
            <a:ext cx="512064" cy="60350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913632"/>
            <a:ext cx="512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0976" y="4032504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— Linear Regression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1728" y="1060704"/>
            <a:ext cx="4114800" cy="603504"/>
          </a:xfrm>
          <a:prstGeom prst="rect">
            <a:avLst/>
          </a:prstGeom>
          <a:solidFill>
            <a:srgbClr val="4A8B3A"/>
          </a:solidFill>
          <a:ln w="12700">
            <a:solidFill>
              <a:srgbClr val="4A8B3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81728" y="1060704"/>
            <a:ext cx="512064" cy="60350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1060704"/>
            <a:ext cx="512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85232" y="1179576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— Random Forest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1728" y="1773936"/>
            <a:ext cx="4114800" cy="603504"/>
          </a:xfrm>
          <a:prstGeom prst="rect">
            <a:avLst/>
          </a:prstGeom>
          <a:solidFill>
            <a:srgbClr val="4A8B3A"/>
          </a:solidFill>
          <a:ln w="12700">
            <a:solidFill>
              <a:srgbClr val="4A8B3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81728" y="1773936"/>
            <a:ext cx="512064" cy="60350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1773936"/>
            <a:ext cx="512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8523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 (Real Metrics)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81728" y="2487168"/>
            <a:ext cx="4114800" cy="603504"/>
          </a:xfrm>
          <a:prstGeom prst="rect">
            <a:avLst/>
          </a:prstGeom>
          <a:solidFill>
            <a:srgbClr val="4A8B3A"/>
          </a:solidFill>
          <a:ln w="12700">
            <a:solidFill>
              <a:srgbClr val="4A8B3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81728" y="2487168"/>
            <a:ext cx="512064" cy="60350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2487168"/>
            <a:ext cx="512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285232" y="2606040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Key Insights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81728" y="3200400"/>
            <a:ext cx="4114800" cy="603504"/>
          </a:xfrm>
          <a:prstGeom prst="rect">
            <a:avLst/>
          </a:prstGeom>
          <a:solidFill>
            <a:srgbClr val="4A8B3A"/>
          </a:solidFill>
          <a:ln w="12700">
            <a:solidFill>
              <a:srgbClr val="4A8B3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81728" y="3200400"/>
            <a:ext cx="512064" cy="60350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1728" y="3200400"/>
            <a:ext cx="512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285232" y="3319272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5 Files from Kaggle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8638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kaggle.com/datasets/patelris/crop-yield-prediction-dataset  |  Version 1  |  7.61 MB  |  33 columns total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2608" y="1188720"/>
            <a:ext cx="1609344" cy="2487168"/>
          </a:xfrm>
          <a:prstGeom prst="rect">
            <a:avLst/>
          </a:prstGeom>
          <a:solidFill>
            <a:srgbClr val="2C5F2D"/>
          </a:solidFill>
          <a:ln w="25400">
            <a:solidFill>
              <a:srgbClr val="D4A84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188720"/>
            <a:ext cx="1609344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280160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🌾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70078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yield_df.csv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0665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28,242 rows × 7 cols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35915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FILE — pre-merged, ready for 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2608" y="343814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Used for ML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29968" y="1188720"/>
            <a:ext cx="1609344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29968" y="1280160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103120" y="170078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yield.csv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20665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56,717 rows × 12 cols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03120" y="235915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FAO yield data (hg/ha)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67328" y="1188720"/>
            <a:ext cx="1609344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67328" y="1280160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🌡️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840480" y="170078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temp.csv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0" y="20665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71,311 rows × 3 cols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0" y="235915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temperature by country &amp; year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04688" y="1188720"/>
            <a:ext cx="1609344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04688" y="1280160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🌧️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77840" y="170078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rainfall.csv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20665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6,727 rows × 3 cols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77840" y="235915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rainfall (mm) by country &amp; year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242048" y="1188720"/>
            <a:ext cx="1609344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242048" y="1280160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🧪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315200" y="170078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pesticides.csv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0" y="20665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4,349 rows × 7 cols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0" y="235915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Pesticide usage in tonnes of active ingredients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92608" y="3749040"/>
            <a:ext cx="8558784" cy="1024128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3776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yield_df.csv — Columns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38912" y="4096512"/>
            <a:ext cx="1097280" cy="530352"/>
          </a:xfrm>
          <a:prstGeom prst="rect">
            <a:avLst/>
          </a:prstGeom>
          <a:solidFill>
            <a:srgbClr val="2C5F2D"/>
          </a:solidFill>
          <a:ln w="12700">
            <a:solidFill>
              <a:srgbClr val="4A8B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4096512"/>
            <a:ext cx="109728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(country)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645920" y="4096512"/>
            <a:ext cx="1097280" cy="530352"/>
          </a:xfrm>
          <a:prstGeom prst="rect">
            <a:avLst/>
          </a:prstGeom>
          <a:solidFill>
            <a:srgbClr val="2C5F2D"/>
          </a:solidFill>
          <a:ln w="12700">
            <a:solidFill>
              <a:srgbClr val="4A8B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45920" y="4096512"/>
            <a:ext cx="109728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(crop type)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852928" y="4096512"/>
            <a:ext cx="1097280" cy="530352"/>
          </a:xfrm>
          <a:prstGeom prst="rect">
            <a:avLst/>
          </a:prstGeom>
          <a:solidFill>
            <a:srgbClr val="2C5F2D"/>
          </a:solidFill>
          <a:ln w="12700">
            <a:solidFill>
              <a:srgbClr val="4A8B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52928" y="4096512"/>
            <a:ext cx="109728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(1990–2013)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059936" y="4096512"/>
            <a:ext cx="1097280" cy="5303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59936" y="4096512"/>
            <a:ext cx="109728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hg/ha_yield ★ TARGET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266944" y="4096512"/>
            <a:ext cx="1097280" cy="530352"/>
          </a:xfrm>
          <a:prstGeom prst="rect">
            <a:avLst/>
          </a:prstGeom>
          <a:solidFill>
            <a:srgbClr val="2C5F2D"/>
          </a:solidFill>
          <a:ln w="12700">
            <a:solidFill>
              <a:srgbClr val="4A8B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66944" y="4096512"/>
            <a:ext cx="109728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average_rain_fall_mm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473952" y="4096512"/>
            <a:ext cx="1097280" cy="530352"/>
          </a:xfrm>
          <a:prstGeom prst="rect">
            <a:avLst/>
          </a:prstGeom>
          <a:solidFill>
            <a:srgbClr val="2C5F2D"/>
          </a:solidFill>
          <a:ln w="12700">
            <a:solidFill>
              <a:srgbClr val="4A8B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73952" y="4096512"/>
            <a:ext cx="109728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pesticides_tonnes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680960" y="4096512"/>
            <a:ext cx="1097280" cy="530352"/>
          </a:xfrm>
          <a:prstGeom prst="rect">
            <a:avLst/>
          </a:prstGeom>
          <a:solidFill>
            <a:srgbClr val="2C5F2D"/>
          </a:solidFill>
          <a:ln w="12700">
            <a:solidFill>
              <a:srgbClr val="4A8B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80960" y="4096512"/>
            <a:ext cx="109728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avg_temp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Team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950976"/>
            <a:ext cx="5047488" cy="1188720"/>
          </a:xfrm>
          <a:prstGeom prst="rect">
            <a:avLst/>
          </a:prstGeom>
          <a:solidFill>
            <a:srgbClr val="2C5F2D"/>
          </a:solidFill>
          <a:ln w="25400">
            <a:solidFill>
              <a:srgbClr val="D4A84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3776" y="9875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" y="1280160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annual crop yield (hg/ha) from climate &amp; agricultural variables using ML — enabling data-driven food security decisions across 101 countries and 10 crop types.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" y="2267712"/>
            <a:ext cx="1554480" cy="786384"/>
          </a:xfrm>
          <a:prstGeom prst="rect">
            <a:avLst/>
          </a:prstGeom>
          <a:solidFill>
            <a:srgbClr val="EEF4E8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3042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0624" y="2596896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regression models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crop yield prediction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84832" y="2267712"/>
            <a:ext cx="1554480" cy="786384"/>
          </a:xfrm>
          <a:prstGeom prst="rect">
            <a:avLst/>
          </a:prstGeom>
          <a:solidFill>
            <a:srgbClr val="EEF4E8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4832" y="23042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57984" y="2596896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Linear Regression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Random Forest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22192" y="2267712"/>
            <a:ext cx="1554480" cy="786384"/>
          </a:xfrm>
          <a:prstGeom prst="rect">
            <a:avLst/>
          </a:prstGeom>
          <a:solidFill>
            <a:srgbClr val="EEF4E8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22192" y="23042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95344" y="2596896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CRISP-DM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end-to-end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77840" y="1444752"/>
            <a:ext cx="3218688" cy="3474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1444752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77840" y="1847088"/>
            <a:ext cx="3218688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592526" y="1847088"/>
            <a:ext cx="54864" cy="10515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87568" y="18836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Tung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87568" y="21579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66560" y="1920240"/>
            <a:ext cx="1920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Dataset acquisition, data loading, CRISP-DM planning, preprocessing pipeline (EDA, visualization), model training, evaluation metrics, technical documentation, report writing, presentation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577840" y="38587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47472" y="327355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all 6 CRISP-DM phases with modular Python code, IEEE paper, and GitHub repository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Methodology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499616" y="2304288"/>
            <a:ext cx="219456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950976"/>
            <a:ext cx="1207008" cy="2688336"/>
          </a:xfrm>
          <a:prstGeom prst="rect">
            <a:avLst/>
          </a:prstGeom>
          <a:solidFill>
            <a:srgbClr val="2C5F2D"/>
          </a:solidFill>
          <a:ln w="12700">
            <a:solidFill>
              <a:srgbClr val="4A8B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950976"/>
            <a:ext cx="1207008" cy="457200"/>
          </a:xfrm>
          <a:prstGeom prst="rect">
            <a:avLst/>
          </a:prstGeom>
          <a:solidFill>
            <a:srgbClr val="4A8B3A"/>
          </a:solidFill>
          <a:ln w="12700">
            <a:solidFill>
              <a:srgbClr val="4A8B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950976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1060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176272"/>
            <a:ext cx="10607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prediction goal &amp; evaluation metrics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44368" y="2304288"/>
            <a:ext cx="219456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0" y="950976"/>
            <a:ext cx="1207008" cy="2688336"/>
          </a:xfrm>
          <a:prstGeom prst="rect">
            <a:avLst/>
          </a:prstGeom>
          <a:solidFill>
            <a:srgbClr val="2C5F2D"/>
          </a:solidFill>
          <a:ln w="12700">
            <a:solidFill>
              <a:srgbClr val="4A8B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737360" y="950976"/>
            <a:ext cx="1207008" cy="457200"/>
          </a:xfrm>
          <a:prstGeom prst="rect">
            <a:avLst/>
          </a:prstGeom>
          <a:solidFill>
            <a:srgbClr val="4A8B3A"/>
          </a:solidFill>
          <a:ln w="12700">
            <a:solidFill>
              <a:srgbClr val="4A8B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950976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810512" y="1463040"/>
            <a:ext cx="1060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810512" y="2176272"/>
            <a:ext cx="10607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explore yield_df.csv — EDA + stats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89120" y="2304288"/>
            <a:ext cx="219456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82112" y="950976"/>
            <a:ext cx="1207008" cy="2688336"/>
          </a:xfrm>
          <a:prstGeom prst="rect">
            <a:avLst/>
          </a:prstGeom>
          <a:solidFill>
            <a:srgbClr val="2C5F2D"/>
          </a:solidFill>
          <a:ln w="12700">
            <a:solidFill>
              <a:srgbClr val="4A8B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82112" y="950976"/>
            <a:ext cx="1207008" cy="457200"/>
          </a:xfrm>
          <a:prstGeom prst="rect">
            <a:avLst/>
          </a:prstGeom>
          <a:solidFill>
            <a:srgbClr val="4A8B3A"/>
          </a:solidFill>
          <a:ln w="12700">
            <a:solidFill>
              <a:srgbClr val="4A8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82112" y="950976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255264" y="1463040"/>
            <a:ext cx="1060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55264" y="2176272"/>
            <a:ext cx="10607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Encode, scale, train/test split 80% / 20%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33872" y="2304288"/>
            <a:ext cx="219456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26864" y="950976"/>
            <a:ext cx="1207008" cy="2688336"/>
          </a:xfrm>
          <a:prstGeom prst="rect">
            <a:avLst/>
          </a:prstGeom>
          <a:solidFill>
            <a:srgbClr val="2C5F2D"/>
          </a:solidFill>
          <a:ln w="25400">
            <a:solidFill>
              <a:srgbClr val="D4A843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26864" y="950976"/>
            <a:ext cx="1207008" cy="457200"/>
          </a:xfrm>
          <a:prstGeom prst="rect">
            <a:avLst/>
          </a:prstGeom>
          <a:solidFill>
            <a:srgbClr val="D4A843"/>
          </a:solidFill>
          <a:ln w="12700">
            <a:solidFill>
              <a:srgbClr val="4A8B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26864" y="950976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700016" y="1463040"/>
            <a:ext cx="1060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00016" y="2176272"/>
            <a:ext cx="10607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Linear Reg. &amp; Random Forest (100 trees)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78624" y="2304288"/>
            <a:ext cx="219456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71616" y="950976"/>
            <a:ext cx="1207008" cy="2688336"/>
          </a:xfrm>
          <a:prstGeom prst="rect">
            <a:avLst/>
          </a:prstGeom>
          <a:solidFill>
            <a:srgbClr val="2C5F2D"/>
          </a:solidFill>
          <a:ln w="12700">
            <a:solidFill>
              <a:srgbClr val="4A8B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71616" y="950976"/>
            <a:ext cx="1207008" cy="457200"/>
          </a:xfrm>
          <a:prstGeom prst="rect">
            <a:avLst/>
          </a:prstGeom>
          <a:solidFill>
            <a:srgbClr val="4A8B3A"/>
          </a:solidFill>
          <a:ln w="12700">
            <a:solidFill>
              <a:srgbClr val="4A8B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71616" y="950976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44768" y="1463040"/>
            <a:ext cx="1060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44768" y="2176272"/>
            <a:ext cx="10607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RMSE, R², MAE, MAPE on 5,649 test rows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516368" y="950976"/>
            <a:ext cx="1207008" cy="2688336"/>
          </a:xfrm>
          <a:prstGeom prst="rect">
            <a:avLst/>
          </a:prstGeom>
          <a:solidFill>
            <a:srgbClr val="2C5F2D"/>
          </a:solidFill>
          <a:ln w="12700">
            <a:solidFill>
              <a:srgbClr val="4A8B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516368" y="950976"/>
            <a:ext cx="1207008" cy="457200"/>
          </a:xfrm>
          <a:prstGeom prst="rect">
            <a:avLst/>
          </a:prstGeom>
          <a:solidFill>
            <a:srgbClr val="4A8B3A"/>
          </a:solidFill>
          <a:ln w="12700">
            <a:solidFill>
              <a:srgbClr val="4A8B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16368" y="950976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589520" y="1463040"/>
            <a:ext cx="1060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589520" y="2176272"/>
            <a:ext cx="10607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.pkl models, docs &amp; GitHub repository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3858768"/>
            <a:ext cx="9144000" cy="12801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3858768"/>
            <a:ext cx="914400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1148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This project completes all 6 CRISP-DM phases with modular Python code, IEEE paper, and GitHub repository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EDA Findings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47472" y="87782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Key Findings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234440"/>
            <a:ext cx="4114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234440"/>
            <a:ext cx="54864" cy="530352"/>
          </a:xfrm>
          <a:prstGeom prst="rect">
            <a:avLst/>
          </a:prstGeom>
          <a:solidFill>
            <a:srgbClr val="4A8B3A"/>
          </a:solidFill>
          <a:ln w="12700">
            <a:solidFill>
              <a:srgbClr val="4A8B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32588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1298448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— all 28,242 rows fully complete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1837944"/>
            <a:ext cx="4114800" cy="530352"/>
          </a:xfrm>
          <a:prstGeom prst="rect">
            <a:avLst/>
          </a:prstGeom>
          <a:solidFill>
            <a:srgbClr val="EEF4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837944"/>
            <a:ext cx="54864" cy="530352"/>
          </a:xfrm>
          <a:prstGeom prst="rect">
            <a:avLst/>
          </a:prstGeom>
          <a:solidFill>
            <a:srgbClr val="4A8B3A"/>
          </a:solidFill>
          <a:ln w="12700">
            <a:solidFill>
              <a:srgbClr val="4A8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92938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🌾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1901952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(crop type) shows HUGE yield variation: Potatoes ~200K vs Sorghum ~18K hg/ha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2441448"/>
            <a:ext cx="4114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441448"/>
            <a:ext cx="54864" cy="530352"/>
          </a:xfrm>
          <a:prstGeom prst="rect">
            <a:avLst/>
          </a:prstGeom>
          <a:solidFill>
            <a:srgbClr val="4A8B3A"/>
          </a:solidFill>
          <a:ln w="12700">
            <a:solidFill>
              <a:srgbClr val="4A8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53288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" y="2505456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hg/ha_yield is heavily right-skewed (range: 50–501,412 hg/ha)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3044952"/>
            <a:ext cx="4114800" cy="530352"/>
          </a:xfrm>
          <a:prstGeom prst="rect">
            <a:avLst/>
          </a:prstGeom>
          <a:solidFill>
            <a:srgbClr val="EEF4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044952"/>
            <a:ext cx="54864" cy="530352"/>
          </a:xfrm>
          <a:prstGeom prst="rect">
            <a:avLst/>
          </a:prstGeom>
          <a:solidFill>
            <a:srgbClr val="4A8B3A"/>
          </a:solidFill>
          <a:ln w="12700">
            <a:solidFill>
              <a:srgbClr val="4A8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13639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🌡️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108960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avg_temp: moderate, non-linear (parabolic) effect on yield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" y="3648456"/>
            <a:ext cx="4114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3648456"/>
            <a:ext cx="54864" cy="530352"/>
          </a:xfrm>
          <a:prstGeom prst="rect">
            <a:avLst/>
          </a:prstGeom>
          <a:solidFill>
            <a:srgbClr val="4A8B3A"/>
          </a:solidFill>
          <a:ln w="12700">
            <a:solidFill>
              <a:srgbClr val="4A8B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73989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🧪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1248" y="3712464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pesticides_tonnes: right-skewed, range 0.04–367,778 tonnes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" y="4251960"/>
            <a:ext cx="4114800" cy="530352"/>
          </a:xfrm>
          <a:prstGeom prst="rect">
            <a:avLst/>
          </a:prstGeom>
          <a:solidFill>
            <a:srgbClr val="EEF4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4251960"/>
            <a:ext cx="54864" cy="530352"/>
          </a:xfrm>
          <a:prstGeom prst="rect">
            <a:avLst/>
          </a:prstGeom>
          <a:solidFill>
            <a:srgbClr val="4A8B3A"/>
          </a:solidFill>
          <a:ln w="12700">
            <a:solidFill>
              <a:srgbClr val="4A8B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434340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1248" y="4315968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correlation among features — no multicollinearity issues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63440" y="87782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63440" y="12344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1234440"/>
            <a:ext cx="54864" cy="80467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1289304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Missing Values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73168" y="1600200"/>
            <a:ext cx="3877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yield_df.csv has NO missing values.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28,242 rows fully complete.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2139696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2139696"/>
            <a:ext cx="54864" cy="80467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2194560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🔡  Label Encoding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73168" y="2505456"/>
            <a:ext cx="3877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(101 countries) + Item (10 crops)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integer codes via LabelEncoder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044952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044952"/>
            <a:ext cx="54864" cy="80467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73168" y="3099816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Feature Scaling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73168" y="3410712"/>
            <a:ext cx="3877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StandardScaler: x′ = (x − μ) / σ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train only, transform both sets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3950208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3950208"/>
            <a:ext cx="54864" cy="80467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73168" y="4005072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 Train/Test Split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73168" y="4315968"/>
            <a:ext cx="3877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22,593 train (80%) | 5,649 test (20%)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 = 42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914400"/>
            <a:ext cx="393192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14400"/>
            <a:ext cx="3931920" cy="438912"/>
          </a:xfrm>
          <a:prstGeom prst="rect">
            <a:avLst/>
          </a:prstGeom>
          <a:solidFill>
            <a:srgbClr val="6B7C6B"/>
          </a:solidFill>
          <a:ln w="12700">
            <a:solidFill>
              <a:srgbClr val="6B7C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32688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 (Baseline)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26464"/>
            <a:ext cx="3712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w·x + 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73936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 OLS loss: L = Σ (yᵢ − ŷᵢ)²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3566160" cy="347472"/>
          </a:xfrm>
          <a:prstGeom prst="rect">
            <a:avLst/>
          </a:prstGeom>
          <a:solidFill>
            <a:srgbClr val="EEF4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1031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37360" y="21031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0.0843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05456"/>
            <a:ext cx="3566160" cy="347472"/>
          </a:xfrm>
          <a:prstGeom prst="rect">
            <a:avLst/>
          </a:prstGeom>
          <a:solidFill>
            <a:srgbClr val="EEF4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50545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37360" y="250545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81,502 hg/ha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07792"/>
            <a:ext cx="3566160" cy="347472"/>
          </a:xfrm>
          <a:prstGeom prst="rect">
            <a:avLst/>
          </a:prstGeom>
          <a:solidFill>
            <a:srgbClr val="EEF4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9077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37360" y="29077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231.06%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364992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Simple, fast, interpretable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767328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Assumes linearity — fails here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169664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Cannot capture crop-type variation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64608" y="914400"/>
            <a:ext cx="3931920" cy="3858768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64608" y="914400"/>
            <a:ext cx="3931920" cy="43891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74336" y="932688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(Main Model)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74336" y="1426464"/>
            <a:ext cx="3712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(1/T) Σ hₜ(x)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74336" y="1773936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T=100 trees, bootstrap sampling, n_jobs=-1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74336" y="2103120"/>
            <a:ext cx="3566160" cy="347472"/>
          </a:xfrm>
          <a:prstGeom prst="rect">
            <a:avLst/>
          </a:prstGeom>
          <a:solidFill>
            <a:srgbClr val="EEF4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84064" y="21031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54496" y="21031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0.9857 ✅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74336" y="2505456"/>
            <a:ext cx="3566160" cy="347472"/>
          </a:xfrm>
          <a:prstGeom prst="rect">
            <a:avLst/>
          </a:prstGeom>
          <a:solidFill>
            <a:srgbClr val="EEF4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84064" y="250545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54496" y="250545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10,178 hg/ha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74336" y="2907792"/>
            <a:ext cx="3566160" cy="347472"/>
          </a:xfrm>
          <a:prstGeom prst="rect">
            <a:avLst/>
          </a:prstGeom>
          <a:solidFill>
            <a:srgbClr val="EEF4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84064" y="29077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54496" y="29077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7.72%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74336" y="3364992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Captures non-linear relationships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74336" y="3712464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Handles crop-type variation perfectly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74336" y="4059936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Built-in feature importance scores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74336" y="4407408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Less interpretable (black-box)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160520" y="2011680"/>
            <a:ext cx="822960" cy="82296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6052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 — Real Metrics (yield_df.csv)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1024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— Linear Regression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38912" y="131673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0.0843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359152" y="987552"/>
            <a:ext cx="1920240" cy="804672"/>
          </a:xfrm>
          <a:prstGeom prst="rect">
            <a:avLst/>
          </a:prstGeom>
          <a:solidFill>
            <a:srgbClr val="2C5F2D"/>
          </a:solidFill>
          <a:ln w="25400">
            <a:solidFill>
              <a:srgbClr val="D4A84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024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— Random Forest ★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50592" y="131673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0.9857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70832" y="987552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62272" y="1024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— Linear Regression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62272" y="131673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81,502 hg/ha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82512" y="987552"/>
            <a:ext cx="1920240" cy="804672"/>
          </a:xfrm>
          <a:prstGeom prst="rect">
            <a:avLst/>
          </a:prstGeom>
          <a:solidFill>
            <a:srgbClr val="2C5F2D"/>
          </a:solidFill>
          <a:ln w="25400">
            <a:solidFill>
              <a:srgbClr val="D4A84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73952" y="1024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— Random Forest ★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73952" y="131673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10,178 hg/ha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47472" y="1920240"/>
            <a:ext cx="8449056" cy="38404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195681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80944" y="1956816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(hg/ha)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53712" y="1956816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(hg/ha)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195681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19568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(%)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" y="2359152"/>
            <a:ext cx="844905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245059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80944" y="245059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81,502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53712" y="245059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62,444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24505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0.0843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24505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231.06%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7472" y="2852928"/>
            <a:ext cx="8449056" cy="438912"/>
          </a:xfrm>
          <a:prstGeom prst="rect">
            <a:avLst/>
          </a:prstGeom>
          <a:solidFill>
            <a:srgbClr val="EEF4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2852928"/>
            <a:ext cx="54864" cy="43891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294436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★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980944" y="294436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10,178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53712" y="294436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3,754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26480" y="29443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0.9857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23760" y="29443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7.72%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47472" y="3419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 — higher is better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47472" y="3767328"/>
            <a:ext cx="749808" cy="347472"/>
          </a:xfrm>
          <a:prstGeom prst="rect">
            <a:avLst/>
          </a:prstGeom>
          <a:solidFill>
            <a:srgbClr val="EEF4E8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376732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152144" y="3813048"/>
            <a:ext cx="292919" cy="256032"/>
          </a:xfrm>
          <a:prstGeom prst="rect">
            <a:avLst/>
          </a:prstGeom>
          <a:solidFill>
            <a:srgbClr val="6B7C6B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52144" y="3813048"/>
            <a:ext cx="292919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0.0843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7472" y="4242816"/>
            <a:ext cx="749808" cy="347472"/>
          </a:xfrm>
          <a:prstGeom prst="rect">
            <a:avLst/>
          </a:prstGeom>
          <a:solidFill>
            <a:srgbClr val="EEF4E8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4242816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★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152144" y="4288536"/>
            <a:ext cx="3425032" cy="2560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52144" y="4288536"/>
            <a:ext cx="342503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0.9857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54880" y="3419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— lower is better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54880" y="3767328"/>
            <a:ext cx="749808" cy="347472"/>
          </a:xfrm>
          <a:prstGeom prst="rect">
            <a:avLst/>
          </a:prstGeom>
          <a:solidFill>
            <a:srgbClr val="EEF4E8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376732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559552" y="3813048"/>
            <a:ext cx="329184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887968" y="38130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81,502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54880" y="4242816"/>
            <a:ext cx="749808" cy="347472"/>
          </a:xfrm>
          <a:prstGeom prst="rect">
            <a:avLst/>
          </a:prstGeom>
          <a:solidFill>
            <a:srgbClr val="EEF4E8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4242816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★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59552" y="4288536"/>
            <a:ext cx="411086" cy="2560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07214" y="4288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10,178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Key Insights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47472" y="8778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Feature Importance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" y="1225296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(crop type)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066544" y="1289304"/>
            <a:ext cx="2337700" cy="256032"/>
          </a:xfrm>
          <a:prstGeom prst="rect">
            <a:avLst/>
          </a:prstGeom>
          <a:solidFill>
            <a:srgbClr val="D4A843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66544" y="1289304"/>
            <a:ext cx="233770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60.9%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175564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pesticides_tonnes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66544" y="1819656"/>
            <a:ext cx="423605" cy="2560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66544" y="1819656"/>
            <a:ext cx="423605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228600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avg_temp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66544" y="2350008"/>
            <a:ext cx="416692" cy="2560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66544" y="2350008"/>
            <a:ext cx="41669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" y="2816352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rainfall_mm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66544" y="2880360"/>
            <a:ext cx="332202" cy="2560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66544" y="2880360"/>
            <a:ext cx="33220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" y="3346704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(country)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66544" y="3410712"/>
            <a:ext cx="211226" cy="2560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66544" y="3410712"/>
            <a:ext cx="211226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" y="3877056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066544" y="3941064"/>
            <a:ext cx="164592" cy="2560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66544" y="3941064"/>
            <a:ext cx="16459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914400"/>
            <a:ext cx="2066544" cy="1609344"/>
          </a:xfrm>
          <a:prstGeom prst="rect">
            <a:avLst/>
          </a:prstGeom>
          <a:solidFill>
            <a:srgbClr val="2C5F2D"/>
          </a:solidFill>
          <a:ln w="25400">
            <a:solidFill>
              <a:srgbClr val="D4A84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63440" y="100584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🌾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54880" y="133502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(Crop Type) = #1 Factor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1700784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Importance: 0.6087 (61%). Potatoes ~200K vs Sorghum ~18K hg/ha. Crop type dominates all climate features.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839712" y="914400"/>
            <a:ext cx="2066544" cy="1609344"/>
          </a:xfrm>
          <a:prstGeom prst="rect">
            <a:avLst/>
          </a:prstGeom>
          <a:solidFill>
            <a:srgbClr val="2C5F2D"/>
          </a:solidFill>
          <a:ln w="25400">
            <a:solidFill>
              <a:srgbClr val="D4A84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39712" y="100584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🧪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931152" y="133502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Pesticides &amp; Temperature tied at #2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31152" y="1700784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at ~0.11 importance. Higher pesticide use correlates with higher yield. Temperature shows parabolic effect.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2651760"/>
            <a:ext cx="2066544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63440" y="274320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📉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754880" y="307238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Fails (R²=0.08)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54880" y="3438144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separate crops — treats all 10 types as one. Residuals are massive and biased. Completely unsuitable.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839712" y="2651760"/>
            <a:ext cx="2066544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839712" y="274320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931152" y="307238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R²=0.9857, MAPE=7.72%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931152" y="3438144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predictions. Learns crop-specific patterns + climate interactions. Reduces RMSE by 8× vs LR.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47472" y="9144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335598" y="1325879"/>
            <a:ext cx="4663441" cy="534785"/>
          </a:xfrm>
          <a:prstGeom prst="rect">
            <a:avLst/>
          </a:prstGeom>
          <a:solidFill>
            <a:srgbClr val="2C5F2D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5599" y="1330313"/>
            <a:ext cx="54864" cy="5303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7039" y="142175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29375" y="1403465"/>
            <a:ext cx="4059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dominates: R²=0.9857 vs 0.0843, RMSE 10,178 vs 81,502 hg/ha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35599" y="1929384"/>
            <a:ext cx="4663440" cy="530352"/>
          </a:xfrm>
          <a:prstGeom prst="rect">
            <a:avLst/>
          </a:prstGeom>
          <a:solidFill>
            <a:srgbClr val="2C5F2D"/>
          </a:solidFill>
          <a:ln w="6350">
            <a:solidFill>
              <a:srgbClr val="4A8B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35599" y="1933817"/>
            <a:ext cx="54864" cy="5303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7039" y="202525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🌾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29375" y="2006969"/>
            <a:ext cx="4059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type (Item) is the #1 predictor — 61% of RF importance score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35599" y="2532888"/>
            <a:ext cx="4663440" cy="530352"/>
          </a:xfrm>
          <a:prstGeom prst="rect">
            <a:avLst/>
          </a:prstGeom>
          <a:solidFill>
            <a:srgbClr val="2C5F2D"/>
          </a:solidFill>
          <a:ln w="6350">
            <a:solidFill>
              <a:srgbClr val="4A8B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35599" y="2537321"/>
            <a:ext cx="54864" cy="5303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7039" y="262876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29375" y="2610473"/>
            <a:ext cx="4059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is fundamentally unsuitable (R²&lt;0.1, MAPE=231%)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35599" y="3136392"/>
            <a:ext cx="4663440" cy="530352"/>
          </a:xfrm>
          <a:prstGeom prst="rect">
            <a:avLst/>
          </a:prstGeom>
          <a:solidFill>
            <a:srgbClr val="2C5F2D"/>
          </a:solidFill>
          <a:ln w="6350">
            <a:solidFill>
              <a:srgbClr val="4A8B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35599" y="3140825"/>
            <a:ext cx="54864" cy="5303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27039" y="323226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829375" y="3213977"/>
            <a:ext cx="4059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ensured reproducible, well-structured pipeline across all 6 phases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335599" y="3739896"/>
            <a:ext cx="4663440" cy="530352"/>
          </a:xfrm>
          <a:prstGeom prst="rect">
            <a:avLst/>
          </a:prstGeom>
          <a:solidFill>
            <a:srgbClr val="2C5F2D"/>
          </a:solidFill>
          <a:ln w="6350">
            <a:solidFill>
              <a:srgbClr val="4A8B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35599" y="3744329"/>
            <a:ext cx="54864" cy="5303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27039" y="383576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829375" y="3817481"/>
            <a:ext cx="4059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modular codebase (5 .py files) runs end-to-end on Google Colab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1098</Words>
  <Application>Microsoft Office PowerPoint</Application>
  <PresentationFormat>On-screen Show (16:9)</PresentationFormat>
  <Paragraphs>238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 Yield Prediction</dc:title>
  <dc:subject>PptxGenJS Presentation</dc:subject>
  <dc:creator>PptxGenJS</dc:creator>
  <cp:lastModifiedBy>Tung Nguyen</cp:lastModifiedBy>
  <cp:revision>2</cp:revision>
  <dcterms:created xsi:type="dcterms:W3CDTF">2026-03-25T20:47:39Z</dcterms:created>
  <dcterms:modified xsi:type="dcterms:W3CDTF">2026-04-06T13:08:55Z</dcterms:modified>
</cp:coreProperties>
</file>